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5A5A5A"/>
                </a:solidFill>
                <a:latin typeface="Calibri"/>
              </a:rPr>
              <a:t>Weighted mean annual earnings by age band (Rs)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Weighted mean earnings (Rs)</c:v>
                </c:pt>
              </c:strCache>
            </c:strRef>
          </c:tx>
          <c:spPr>
            <a:solidFill>
              <a:srgbClr val="1F4D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4D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4D3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4D3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F4D3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F4D3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F4D3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F4D3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D99A1E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F4D3A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F4D3A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15-19</c:v>
                  </c:pt>
                  <c:pt idx="1">
                    <c:v>20-24</c:v>
                  </c:pt>
                  <c:pt idx="2">
                    <c:v>25-29</c:v>
                  </c:pt>
                  <c:pt idx="3">
                    <c:v>30-34</c:v>
                  </c:pt>
                  <c:pt idx="4">
                    <c:v>35-39</c:v>
                  </c:pt>
                  <c:pt idx="5">
                    <c:v>40-44</c:v>
                  </c:pt>
                  <c:pt idx="6">
                    <c:v>45-49</c:v>
                  </c:pt>
                  <c:pt idx="7">
                    <c:v>50-54</c:v>
                  </c:pt>
                  <c:pt idx="8">
                    <c:v>55-59</c:v>
                  </c:pt>
                  <c:pt idx="9">
                    <c:v>60-64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141017</c:v>
                </c:pt>
                <c:pt idx="1">
                  <c:v>188635</c:v>
                </c:pt>
                <c:pt idx="2">
                  <c:v>245584</c:v>
                </c:pt>
                <c:pt idx="3">
                  <c:v>249828</c:v>
                </c:pt>
                <c:pt idx="4">
                  <c:v>319166</c:v>
                </c:pt>
                <c:pt idx="5">
                  <c:v>271420</c:v>
                </c:pt>
                <c:pt idx="6">
                  <c:v>320463</c:v>
                </c:pt>
                <c:pt idx="7">
                  <c:v>352522</c:v>
                </c:pt>
                <c:pt idx="8">
                  <c:v>319492</c:v>
                </c:pt>
                <c:pt idx="9">
                  <c:v>268087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5A5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5A5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Introduce: my registration is FA24-BEDS-104; the last two digits are 04, and 4 = 0x8+4, so variant 4, rural Khyber Pakhtunkhwa. Sample is persons 15-64 with earnings above zero: 3,396 earners. Everything is weighted by hhweight, and weighted quantiles use the course definition, not R's quantile().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Density per log10 unit, bins 0.1 wide. Weighted median is Rs 187,200, unweighted Rs 180,000. About 8.4% of earners report exactly Rs 180,000; unweighted 50.5% are at or below it, but weighted only 49.5%, because households of higher earners carry slightly larger weights, so the weighted 50% mark moves just above. Right tail is long: p90 is 6.51 times p10.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is the untouched default. Changes: (1) log scale, equal ratios = equal distances, one earning of Rs 12 million no longer squashes the rest; (2) transparency 0.15 and jitter of at most 0.4 years fix overplotting on whole-number ages; (3) weighted band means with the peak annotated give the conditional mean. Also data-ink: no grey panel, finding as title, rupee labels. What the default shows that the redesign hides: one earner above Rs 10 million (Rs 12 million). I chose alpha 0.15 because lighter hides the tails and darker makes a solid block.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important finding: weighted mean earnings rise steeply from the late teens to about Rs 320,000 by the late thirties, then move sideways, plateau, peak at 50-54 (Rs 352,522), then dip at 60-64. Band 25-29 is Rs 245,584. What the figure cannot tell us: whether older workers earn more because they age or because they are from different cohorts with different education. Q5: I recomputed the band table in Python and it matches R to the rupee; matplotlib defaults differ (large opaque markers, minor log ticks) so I set size, alpha and ticks by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earns what in rural KP?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PSLM 2019-20 | ECO346 Assignment 1 | FA24-BEDS-104 | Khyber Pakhtunkhwa (KP)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9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4 = KP rural  (last two digits 04 = 0 x 8 + 4)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2B6048"/>
          </a:solidFill>
          <a:ln w="12700">
            <a:solidFill>
              <a:srgbClr val="2B604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0632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3,396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033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earners aged 15-64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606040" y="292608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2B6048"/>
          </a:solidFill>
          <a:ln w="12700">
            <a:solidFill>
              <a:srgbClr val="2B604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06040" y="30632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187,200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37033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median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292608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2B6048"/>
          </a:solidFill>
          <a:ln w="12700">
            <a:solidFill>
              <a:srgbClr val="2B604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30632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456,000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7033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90th percentile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720840" y="292608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2B6048"/>
          </a:solidFill>
          <a:ln w="12700">
            <a:solidFill>
              <a:srgbClr val="2B604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20840" y="30632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6.51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37033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p90 / p10 ratio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statistics weighted by household weight (hhweight)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 of earners make Rs 187,200 or less; the top tenth make Rs 456,000+</a:t>
            </a:r>
            <a:endParaRPr lang="en-US" sz="2400" dirty="0"/>
          </a:p>
        </p:txBody>
      </p:sp>
      <p:pic>
        <p:nvPicPr>
          <p:cNvPr id="3" name="Image 0" descr="Weighted histogram of annual earnings on a log10 scale with median and 90th percentil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5760" y="1188720"/>
            <a:ext cx="5760720" cy="352122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355080" y="1234440"/>
            <a:ext cx="2423160" cy="960120"/>
          </a:xfrm>
          <a:prstGeom prst="roundRect">
            <a:avLst>
              <a:gd name="adj" fmla="val 7619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355080" y="13258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187,200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6355080" y="17830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median (unweighted: Rs 180,000)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355080" y="2331720"/>
            <a:ext cx="2423160" cy="960120"/>
          </a:xfrm>
          <a:prstGeom prst="roundRect">
            <a:avLst>
              <a:gd name="adj" fmla="val 7619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55080" y="24231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70,000 / 456,000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355080" y="28803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10th / 90th percentile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55080" y="3429000"/>
            <a:ext cx="2423160" cy="960120"/>
          </a:xfrm>
          <a:prstGeom prst="roundRect">
            <a:avLst>
              <a:gd name="adj" fmla="val 7619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55080" y="35204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6.51x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355080" y="39776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spread, p90 over p10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earners outside Rs 10,000 - 10,000,000 excluded from the histogram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makeover: from R's default to a readable finding</a:t>
            </a:r>
            <a:endParaRPr lang="en-US" sz="2400" dirty="0"/>
          </a:p>
        </p:txBody>
      </p:sp>
      <p:pic>
        <p:nvPicPr>
          <p:cNvPr id="3" name="Image 0" descr="R default scatterplot of earnings against 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097280"/>
            <a:ext cx="3712464" cy="2651760"/>
          </a:xfrm>
          <a:prstGeom prst="rect">
            <a:avLst/>
          </a:prstGeom>
        </p:spPr>
      </p:pic>
      <p:pic>
        <p:nvPicPr>
          <p:cNvPr id="4" name="Image 1" descr="Redesigned scatterplot with log axis, transparency and weighted band means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1097280"/>
            <a:ext cx="3977640" cy="26517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3749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geom_point() only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4572000" y="37490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457200" y="411480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48640" y="41148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axis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no longer squash the bulk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3246120" y="411480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337560" y="41148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0.15 + jitter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overplotting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035040" y="411480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126480" y="41148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band means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mean + direct label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pay peaks at Rs 352,522 for ages 50-54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97280"/>
          <a:ext cx="53949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989320" y="114300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pays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Rs 141,017 (15-19) to about Rs 320,000 by 35-39, then a plateau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989320" y="205740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spread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earnings scatter widely at every age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989320" y="297180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tell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effect vs cohort effect: one cross-section, different people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989320" y="388620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= 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25-29 mean Rs 245,584 in both, all bands match to the rupee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ECO346 A1 - FA24-BEDS-104</dc:title>
  <dc:subject>PptxGenJS Presentation</dc:subject>
  <dc:creator>PptxGenJS</dc:creator>
  <cp:lastModifiedBy>PptxGenJS</cp:lastModifiedBy>
  <cp:revision>1</cp:revision>
  <dcterms:created xsi:type="dcterms:W3CDTF">2026-10-25T20:20:19Z</dcterms:created>
  <dcterms:modified xsi:type="dcterms:W3CDTF">2026-10-25T20:20:19Z</dcterms:modified>
</cp:coreProperties>
</file>